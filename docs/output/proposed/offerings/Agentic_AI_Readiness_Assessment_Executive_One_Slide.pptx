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mise Card"/>
          <p:cNvSpPr/>
          <p:nvPr/>
        </p:nvSpPr>
        <p:spPr>
          <a:xfrm>
            <a:off x="6990000" y="420000"/>
            <a:ext cx="1710000" cy="1620000"/>
          </a:xfrm>
          <a:prstGeom prst="roundRect">
            <a:avLst/>
          </a:prstGeom>
          <a:solidFill>
            <a:srgbClr val="16354B"/>
          </a:solidFill>
          <a:ln>
            <a:solidFill>
              <a:srgbClr val="16354B"/>
            </a:solidFill>
          </a:ln>
        </p:spPr>
        <p:txBody>
          <a:bodyPr/>
          <a:lstStyle/>
          <a:p/>
        </p:txBody>
      </p:sp>
      <p:sp>
        <p:nvSpPr>
          <p:cNvPr id="3" name="Stat 1"/>
          <p:cNvSpPr/>
          <p:nvPr/>
        </p:nvSpPr>
        <p:spPr>
          <a:xfrm>
            <a:off x="540000" y="2160000"/>
            <a:ext cx="1830000" cy="860000"/>
          </a:xfrm>
          <a:prstGeom prst="roundRect">
            <a:avLst/>
          </a:prstGeom>
          <a:solidFill>
            <a:srgbClr val="FFF9EE"/>
          </a:solidFill>
          <a:ln>
            <a:solidFill>
              <a:srgbClr val="E2D6BE"/>
            </a:solidFill>
          </a:ln>
        </p:spPr>
        <p:txBody>
          <a:bodyPr/>
          <a:lstStyle/>
          <a:p/>
        </p:txBody>
      </p:sp>
      <p:sp>
        <p:nvSpPr>
          <p:cNvPr id="4" name="Stat 2"/>
          <p:cNvSpPr/>
          <p:nvPr/>
        </p:nvSpPr>
        <p:spPr>
          <a:xfrm>
            <a:off x="2480000" y="2160000"/>
            <a:ext cx="1830000" cy="860000"/>
          </a:xfrm>
          <a:prstGeom prst="roundRect">
            <a:avLst/>
          </a:prstGeom>
          <a:solidFill>
            <a:srgbClr val="FFF9EE"/>
          </a:solidFill>
          <a:ln>
            <a:solidFill>
              <a:srgbClr val="E2D6BE"/>
            </a:solidFill>
          </a:ln>
        </p:spPr>
        <p:txBody>
          <a:bodyPr/>
          <a:lstStyle/>
          <a:p/>
        </p:txBody>
      </p:sp>
      <p:sp>
        <p:nvSpPr>
          <p:cNvPr id="5" name="Stat 3"/>
          <p:cNvSpPr/>
          <p:nvPr/>
        </p:nvSpPr>
        <p:spPr>
          <a:xfrm>
            <a:off x="4420000" y="2160000"/>
            <a:ext cx="1830000" cy="860000"/>
          </a:xfrm>
          <a:prstGeom prst="roundRect">
            <a:avLst/>
          </a:prstGeom>
          <a:solidFill>
            <a:srgbClr val="FFF9EE"/>
          </a:solidFill>
          <a:ln>
            <a:solidFill>
              <a:srgbClr val="E2D6BE"/>
            </a:solidFill>
          </a:ln>
        </p:spPr>
        <p:txBody>
          <a:bodyPr/>
          <a:lstStyle/>
          <a:p/>
        </p:txBody>
      </p:sp>
      <p:sp>
        <p:nvSpPr>
          <p:cNvPr id="6" name="Stat 4"/>
          <p:cNvSpPr/>
          <p:nvPr/>
        </p:nvSpPr>
        <p:spPr>
          <a:xfrm>
            <a:off x="6360000" y="2160000"/>
            <a:ext cx="1830000" cy="860000"/>
          </a:xfrm>
          <a:prstGeom prst="roundRect">
            <a:avLst/>
          </a:prstGeom>
          <a:solidFill>
            <a:srgbClr val="FFF9EE"/>
          </a:solidFill>
          <a:ln>
            <a:solidFill>
              <a:srgbClr val="E2D6BE"/>
            </a:solidFill>
          </a:ln>
        </p:spPr>
        <p:txBody>
          <a:bodyPr/>
          <a:lstStyle/>
          <a:p/>
        </p:txBody>
      </p:sp>
      <p:sp>
        <p:nvSpPr>
          <p:cNvPr id="7" name="Left Panel"/>
          <p:cNvSpPr/>
          <p:nvPr/>
        </p:nvSpPr>
        <p:spPr>
          <a:xfrm>
            <a:off x="540000" y="3220000"/>
            <a:ext cx="3940000" cy="1700000"/>
          </a:xfrm>
          <a:prstGeom prst="roundRect">
            <a:avLst/>
          </a:prstGeom>
          <a:solidFill>
            <a:srgbClr val="FFFDF8"/>
          </a:solidFill>
          <a:ln>
            <a:solidFill>
              <a:srgbClr val="E2D6BE"/>
            </a:solidFill>
          </a:ln>
        </p:spPr>
        <p:txBody>
          <a:bodyPr/>
          <a:lstStyle/>
          <a:p/>
        </p:txBody>
      </p:sp>
      <p:sp>
        <p:nvSpPr>
          <p:cNvPr id="8" name="Right Panel"/>
          <p:cNvSpPr/>
          <p:nvPr/>
        </p:nvSpPr>
        <p:spPr>
          <a:xfrm>
            <a:off x="4640000" y="3220000"/>
            <a:ext cx="3940000" cy="1700000"/>
          </a:xfrm>
          <a:prstGeom prst="roundRect">
            <a:avLst/>
          </a:prstGeom>
          <a:solidFill>
            <a:srgbClr val="FFFDF8"/>
          </a:solidFill>
          <a:ln>
            <a:solidFill>
              <a:srgbClr val="E2D6BE"/>
            </a:solidFill>
          </a:ln>
        </p:spPr>
        <p:txBody>
          <a:bodyPr/>
          <a:lstStyle/>
          <a:p/>
        </p:txBody>
      </p:sp>
      <p:sp>
        <p:nvSpPr>
          <p:cNvPr id="9" name="Bottom Banner"/>
          <p:cNvSpPr/>
          <p:nvPr/>
        </p:nvSpPr>
        <p:spPr>
          <a:xfrm>
            <a:off x="540000" y="5070000"/>
            <a:ext cx="8040000" cy="360000"/>
          </a:xfrm>
          <a:prstGeom prst="roundRect">
            <a:avLst/>
          </a:prstGeom>
          <a:solidFill>
            <a:srgbClr val="E8DCC3"/>
          </a:solidFill>
          <a:ln>
            <a:solidFill>
              <a:srgbClr val="E8DCC3"/>
            </a:solidFill>
          </a:ln>
        </p:spPr>
        <p:txBody>
          <a:bodyPr/>
          <a:lstStyle/>
          <a:p/>
        </p:txBody>
      </p:sp>
      <p:sp>
        <p:nvSpPr>
          <p:cNvPr id="10" name="Tag"/>
          <p:cNvSpPr txBox="1"/>
          <p:nvPr/>
        </p:nvSpPr>
        <p:spPr>
          <a:xfrm>
            <a:off x="540000" y="240000"/>
            <a:ext cx="1200000" cy="220000"/>
          </a:xfrm>
        </p:spPr>
        <p:txBody>
          <a:bodyPr wrap="square" lIns="0" tIns="0" rIns="0" bIns="0"/>
          <a:lstStyle/>
          <a:p>
            <a:pPr>
              <a:buNone/>
            </a:pPr>
            <a:r>
              <a:rPr lang="en-US" sz="1100" b="1">
                <a:solidFill>
                  <a:srgbClr val="16354B"/>
                </a:solidFill>
              </a:rPr>
              <a:t>EXECUTIVE OFFER</a:t>
            </a:r>
            <a:endParaRPr lang="en-US" sz="1100" b="1"/>
          </a:p>
        </p:txBody>
      </p:sp>
      <p:sp>
        <p:nvSpPr>
          <p:cNvPr id="11" name="Title"/>
          <p:cNvSpPr txBox="1"/>
          <p:nvPr/>
        </p:nvSpPr>
        <p:spPr>
          <a:xfrm>
            <a:off x="540000" y="520000"/>
            <a:ext cx="6000000" cy="700000"/>
          </a:xfrm>
        </p:spPr>
        <p:txBody>
          <a:bodyPr wrap="square" lIns="0" tIns="0" rIns="0" bIns="0"/>
          <a:lstStyle/>
          <a:p>
            <a:pPr>
              <a:buNone/>
            </a:pPr>
            <a:r>
              <a:rPr lang="en-US" sz="2700" b="1">
                <a:solidFill>
                  <a:srgbClr val="102133"/>
                </a:solidFill>
              </a:rPr>
              <a:t>Enterprise Agentic AI Readiness Assessment</a:t>
            </a:r>
            <a:endParaRPr lang="en-US" sz="2700" b="1"/>
          </a:p>
        </p:txBody>
      </p:sp>
      <p:sp>
        <p:nvSpPr>
          <p:cNvPr id="12" name="Subtitle"/>
          <p:cNvSpPr txBox="1"/>
          <p:nvPr/>
        </p:nvSpPr>
        <p:spPr>
          <a:xfrm>
            <a:off x="540000" y="1250000"/>
            <a:ext cx="5900000" cy="620000"/>
          </a:xfrm>
        </p:spPr>
        <p:txBody>
          <a:bodyPr wrap="square" lIns="0" tIns="0" rIns="0" bIns="0"/>
          <a:lstStyle/>
          <a:p>
            <a:pPr>
              <a:buNone/>
            </a:pPr>
            <a:r>
              <a:rPr lang="en-US" sz="1650">
                <a:solidFill>
                  <a:srgbClr val="4F6272"/>
                </a:solidFill>
              </a:rPr>
              <a:t>A fixed-fee, senior-led assessment that tells enterprise leaders where agentic AI is credible, what is ready for pilot now, and what must be controlled before moving forward.</a:t>
            </a:r>
            <a:endParaRPr lang="en-US" sz="1650"/>
          </a:p>
        </p:txBody>
      </p:sp>
      <p:sp>
        <p:nvSpPr>
          <p:cNvPr id="13" name="Promise"/>
          <p:cNvSpPr txBox="1"/>
          <p:nvPr/>
        </p:nvSpPr>
        <p:spPr>
          <a:xfrm>
            <a:off x="7180000" y="620000"/>
            <a:ext cx="1320000" cy="1180000"/>
          </a:xfrm>
        </p:spPr>
        <p:txBody>
          <a:bodyPr wrap="square" lIns="0" tIns="0" rIns="0" bIns="0"/>
          <a:lstStyle/>
          <a:p>
            <a:pPr>
              <a:buNone/>
            </a:pPr>
            <a:r>
              <a:rPr lang="en-US" sz="1200" b="1">
                <a:solidFill>
                  <a:srgbClr val="F7F1E6"/>
                </a:solidFill>
              </a:rPr>
              <a:t>IN 2 WEEKS</a:t>
            </a:r>
            <a:endParaRPr lang="en-US" sz="1200" b="1"/>
          </a:p>
          <a:p>
            <a:pPr>
              <a:buNone/>
            </a:pPr>
            <a:r>
              <a:rPr lang="en-US" sz="1400">
                <a:solidFill>
                  <a:srgbClr val="F7F1E6"/>
                </a:solidFill>
              </a:rPr>
              <a:t>2 to 4 workflows assessed</a:t>
            </a:r>
            <a:endParaRPr lang="en-US" sz="1400"/>
          </a:p>
          <a:p>
            <a:pPr>
              <a:buNone/>
            </a:pPr>
            <a:r>
              <a:rPr lang="en-US" sz="1400">
                <a:solidFill>
                  <a:srgbClr val="F7F1E6"/>
                </a:solidFill>
              </a:rPr>
              <a:t>readiness and control view</a:t>
            </a:r>
            <a:endParaRPr lang="en-US" sz="1400"/>
          </a:p>
          <a:p>
            <a:pPr>
              <a:buNone/>
            </a:pPr>
            <a:r>
              <a:rPr lang="en-US" sz="1400">
                <a:solidFill>
                  <a:srgbClr val="F7F1E6"/>
                </a:solidFill>
              </a:rPr>
              <a:t>go / no-go recommendation</a:t>
            </a:r>
            <a:endParaRPr lang="en-US" sz="1400"/>
          </a:p>
          <a:p>
            <a:pPr>
              <a:buNone/>
            </a:pPr>
            <a:r>
              <a:rPr lang="en-US" sz="1400">
                <a:solidFill>
                  <a:srgbClr val="F7F1E6"/>
                </a:solidFill>
              </a:rPr>
              <a:t>90-day next-step path</a:t>
            </a:r>
            <a:endParaRPr lang="en-US" sz="1400"/>
          </a:p>
        </p:txBody>
      </p:sp>
      <p:sp>
        <p:nvSpPr>
          <p:cNvPr id="14" name="S1"/>
          <p:cNvSpPr txBox="1"/>
          <p:nvPr/>
        </p:nvSpPr>
        <p:spPr>
          <a:xfrm>
            <a:off x="720000" y="2280000"/>
            <a:ext cx="1450000" cy="520000"/>
          </a:xfrm>
        </p:spPr>
        <p:txBody>
          <a:bodyPr wrap="square" lIns="0" tIns="0" rIns="0" bIns="0"/>
          <a:lstStyle/>
          <a:p>
            <a:pPr>
              <a:buNone/>
            </a:pPr>
            <a:r>
              <a:rPr lang="en-US" sz="2000" b="1">
                <a:solidFill>
                  <a:srgbClr val="16354B"/>
                </a:solidFill>
              </a:rPr>
              <a:t>2 Weeks</a:t>
            </a:r>
            <a:endParaRPr lang="en-US" sz="2000" b="1"/>
          </a:p>
          <a:p>
            <a:pPr>
              <a:buNone/>
            </a:pPr>
            <a:r>
              <a:rPr lang="en-US" sz="1000" b="1">
                <a:solidFill>
                  <a:srgbClr val="4F6272"/>
                </a:solidFill>
              </a:rPr>
              <a:t>Decision Window</a:t>
            </a:r>
            <a:endParaRPr lang="en-US" sz="1000" b="1"/>
          </a:p>
        </p:txBody>
      </p:sp>
      <p:sp>
        <p:nvSpPr>
          <p:cNvPr id="15" name="S2"/>
          <p:cNvSpPr txBox="1"/>
          <p:nvPr/>
        </p:nvSpPr>
        <p:spPr>
          <a:xfrm>
            <a:off x="2660000" y="2280000"/>
            <a:ext cx="1450000" cy="520000"/>
          </a:xfrm>
        </p:spPr>
        <p:txBody>
          <a:bodyPr wrap="square" lIns="0" tIns="0" rIns="0" bIns="0"/>
          <a:lstStyle/>
          <a:p>
            <a:pPr>
              <a:buNone/>
            </a:pPr>
            <a:r>
              <a:rPr lang="en-US" sz="2000" b="1">
                <a:solidFill>
                  <a:srgbClr val="16354B"/>
                </a:solidFill>
              </a:rPr>
              <a:t>Fixed Fee</a:t>
            </a:r>
            <a:endParaRPr lang="en-US" sz="2000" b="1"/>
          </a:p>
          <a:p>
            <a:pPr>
              <a:buNone/>
            </a:pPr>
            <a:r>
              <a:rPr lang="en-US" sz="1000" b="1">
                <a:solidFill>
                  <a:srgbClr val="4F6272"/>
                </a:solidFill>
              </a:rPr>
              <a:t>Easy To Approve</a:t>
            </a:r>
            <a:endParaRPr lang="en-US" sz="1000" b="1"/>
          </a:p>
        </p:txBody>
      </p:sp>
      <p:sp>
        <p:nvSpPr>
          <p:cNvPr id="16" name="S3"/>
          <p:cNvSpPr txBox="1"/>
          <p:nvPr/>
        </p:nvSpPr>
        <p:spPr>
          <a:xfrm>
            <a:off x="4600000" y="2280000"/>
            <a:ext cx="1450000" cy="520000"/>
          </a:xfrm>
        </p:spPr>
        <p:txBody>
          <a:bodyPr wrap="square" lIns="0" tIns="0" rIns="0" bIns="0"/>
          <a:lstStyle/>
          <a:p>
            <a:pPr>
              <a:buNone/>
            </a:pPr>
            <a:r>
              <a:rPr lang="en-US" sz="2000" b="1">
                <a:solidFill>
                  <a:srgbClr val="16354B"/>
                </a:solidFill>
              </a:rPr>
              <a:t>Senior-Led</a:t>
            </a:r>
            <a:endParaRPr lang="en-US" sz="2000" b="1"/>
          </a:p>
          <a:p>
            <a:pPr>
              <a:buNone/>
            </a:pPr>
            <a:r>
              <a:rPr lang="en-US" sz="1000" b="1">
                <a:solidFill>
                  <a:srgbClr val="4F6272"/>
                </a:solidFill>
              </a:rPr>
              <a:t>Specialist Delivery</a:t>
            </a:r>
            <a:endParaRPr lang="en-US" sz="1000" b="1"/>
          </a:p>
        </p:txBody>
      </p:sp>
      <p:sp>
        <p:nvSpPr>
          <p:cNvPr id="17" name="S4"/>
          <p:cNvSpPr txBox="1"/>
          <p:nvPr/>
        </p:nvSpPr>
        <p:spPr>
          <a:xfrm>
            <a:off x="6540000" y="2280000"/>
            <a:ext cx="1450000" cy="520000"/>
          </a:xfrm>
        </p:spPr>
        <p:txBody>
          <a:bodyPr wrap="square" lIns="0" tIns="0" rIns="0" bIns="0"/>
          <a:lstStyle/>
          <a:p>
            <a:pPr>
              <a:buNone/>
            </a:pPr>
            <a:r>
              <a:rPr lang="en-US" sz="2000" b="1">
                <a:solidFill>
                  <a:srgbClr val="16354B"/>
                </a:solidFill>
              </a:rPr>
              <a:t>Go / No-Go</a:t>
            </a:r>
            <a:endParaRPr lang="en-US" sz="2000" b="1"/>
          </a:p>
          <a:p>
            <a:pPr>
              <a:buNone/>
            </a:pPr>
            <a:r>
              <a:rPr lang="en-US" sz="1000" b="1">
                <a:solidFill>
                  <a:srgbClr val="4F6272"/>
                </a:solidFill>
              </a:rPr>
              <a:t>Clear Outcome</a:t>
            </a:r>
            <a:endParaRPr lang="en-US" sz="1000" b="1"/>
          </a:p>
        </p:txBody>
      </p:sp>
      <p:sp>
        <p:nvSpPr>
          <p:cNvPr id="18" name="Left Panel Text"/>
          <p:cNvSpPr txBox="1"/>
          <p:nvPr/>
        </p:nvSpPr>
        <p:spPr>
          <a:xfrm>
            <a:off x="740000" y="3380000"/>
            <a:ext cx="3540000" cy="1320000"/>
          </a:xfrm>
        </p:spPr>
        <p:txBody>
          <a:bodyPr wrap="square" lIns="0" tIns="0" rIns="0" bIns="0"/>
          <a:lstStyle/>
          <a:p>
            <a:pPr>
              <a:buNone/>
            </a:pPr>
            <a:r>
              <a:rPr lang="en-US" sz="1500" b="1">
                <a:solidFill>
                  <a:srgbClr val="102133"/>
                </a:solidFill>
              </a:rPr>
              <a:t>What The Buyer Gets</a:t>
            </a:r>
            <a:endParaRPr lang="en-US" sz="1500" b="1"/>
          </a:p>
          <a:p>
            <a:pPr>
              <a:buNone/>
            </a:pPr>
            <a:r>
              <a:rPr lang="en-US" sz="1300">
                <a:solidFill>
                  <a:srgbClr val="4F6272"/>
                </a:solidFill>
              </a:rPr>
              <a:t>• executive decision summary</a:t>
            </a:r>
            <a:endParaRPr lang="en-US" sz="1300"/>
          </a:p>
          <a:p>
            <a:pPr>
              <a:buNone/>
            </a:pPr>
            <a:r>
              <a:rPr lang="en-US" sz="1300">
                <a:solidFill>
                  <a:srgbClr val="4F6272"/>
                </a:solidFill>
              </a:rPr>
              <a:t>• workflow suitability scorecard</a:t>
            </a:r>
            <a:endParaRPr lang="en-US" sz="1300"/>
          </a:p>
          <a:p>
            <a:pPr>
              <a:buNone/>
            </a:pPr>
            <a:r>
              <a:rPr lang="en-US" sz="1300">
                <a:solidFill>
                  <a:srgbClr val="4F6272"/>
                </a:solidFill>
              </a:rPr>
              <a:t>• readiness and control view</a:t>
            </a:r>
            <a:endParaRPr lang="en-US" sz="1300"/>
          </a:p>
          <a:p>
            <a:pPr>
              <a:buNone/>
            </a:pPr>
            <a:r>
              <a:rPr lang="en-US" sz="1300">
                <a:solidFill>
                  <a:srgbClr val="4F6272"/>
                </a:solidFill>
              </a:rPr>
              <a:t>• go / no-go recommendation set</a:t>
            </a:r>
            <a:endParaRPr lang="en-US" sz="1300"/>
          </a:p>
        </p:txBody>
      </p:sp>
      <p:sp>
        <p:nvSpPr>
          <p:cNvPr id="19" name="Right Panel Text"/>
          <p:cNvSpPr txBox="1"/>
          <p:nvPr/>
        </p:nvSpPr>
        <p:spPr>
          <a:xfrm>
            <a:off x="4840000" y="3380000"/>
            <a:ext cx="3540000" cy="1320000"/>
          </a:xfrm>
        </p:spPr>
        <p:txBody>
          <a:bodyPr wrap="square" lIns="0" tIns="0" rIns="0" bIns="0"/>
          <a:lstStyle/>
          <a:p>
            <a:pPr>
              <a:buNone/>
            </a:pPr>
            <a:r>
              <a:rPr lang="en-US" sz="1500" b="1">
                <a:solidFill>
                  <a:srgbClr val="102133"/>
                </a:solidFill>
              </a:rPr>
              <a:t>Why It Sells</a:t>
            </a:r>
            <a:endParaRPr lang="en-US" sz="1500" b="1"/>
          </a:p>
          <a:p>
            <a:pPr>
              <a:buNone/>
            </a:pPr>
            <a:r>
              <a:rPr lang="en-US" sz="1300">
                <a:solidFill>
                  <a:srgbClr val="4F6272"/>
                </a:solidFill>
              </a:rPr>
              <a:t>• clear decision before budget rises</a:t>
            </a:r>
            <a:endParaRPr lang="en-US" sz="1300"/>
          </a:p>
          <a:p>
            <a:pPr>
              <a:buNone/>
            </a:pPr>
            <a:r>
              <a:rPr lang="en-US" sz="1300">
                <a:solidFill>
                  <a:srgbClr val="4F6272"/>
                </a:solidFill>
              </a:rPr>
              <a:t>• bounded scope and timeline</a:t>
            </a:r>
            <a:endParaRPr lang="en-US" sz="1300"/>
          </a:p>
          <a:p>
            <a:pPr>
              <a:buNone/>
            </a:pPr>
            <a:r>
              <a:rPr lang="en-US" sz="1300">
                <a:solidFill>
                  <a:srgbClr val="4F6272"/>
                </a:solidFill>
              </a:rPr>
              <a:t>• reusable in funding and risk discussions</a:t>
            </a:r>
            <a:endParaRPr lang="en-US" sz="1300"/>
          </a:p>
          <a:p>
            <a:pPr>
              <a:buNone/>
            </a:pPr>
            <a:r>
              <a:rPr lang="en-US" sz="1300">
                <a:solidFill>
                  <a:srgbClr val="4F6272"/>
                </a:solidFill>
              </a:rPr>
              <a:t>• specialist positioning, not generic AI advisory</a:t>
            </a:r>
            <a:endParaRPr lang="en-US" sz="1300"/>
          </a:p>
        </p:txBody>
      </p:sp>
      <p:sp>
        <p:nvSpPr>
          <p:cNvPr id="20" name="Banner"/>
          <p:cNvSpPr txBox="1"/>
          <p:nvPr/>
        </p:nvSpPr>
        <p:spPr>
          <a:xfrm>
            <a:off x="760000" y="5140000"/>
            <a:ext cx="7600000" cy="220000"/>
          </a:xfrm>
        </p:spPr>
        <p:txBody>
          <a:bodyPr wrap="square" lIns="0" tIns="0" rIns="0" bIns="0"/>
          <a:lstStyle/>
          <a:p>
            <a:pPr>
              <a:buNone/>
            </a:pPr>
            <a:r>
              <a:rPr lang="en-US" sz="1250" b="1">
                <a:solidFill>
                  <a:srgbClr val="16354B"/>
                </a:solidFill>
              </a:rPr>
              <a:t>A practical executive decision product for buyers who want to move beyond AI enthusiasm and make a controlled, defensible call on where agentic AI belongs.</a:t>
            </a:r>
            <a:endParaRPr lang="en-US" sz="125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er Theme">
  <a:themeElements>
    <a:clrScheme name="Offer">
      <a:dk1>
        <a:srgbClr val="102133"/>
      </a:dk1>
      <a:lt1>
        <a:srgbClr val="FFFDF8"/>
      </a:lt1>
      <a:dk2>
        <a:srgbClr val="16354B"/>
      </a:dk2>
      <a:lt2>
        <a:srgbClr val="F4EFE5"/>
      </a:lt2>
      <a:accent1>
        <a:srgbClr val="16354B"/>
      </a:accent1>
      <a:accent2>
        <a:srgbClr val="0F766E"/>
      </a:accent2>
      <a:accent3>
        <a:srgbClr val="C08A1D"/>
      </a:accent3>
      <a:accent4>
        <a:srgbClr val="B85C38"/>
      </a:accent4>
      <a:accent5>
        <a:srgbClr val="64748B"/>
      </a:accent5>
      <a:accent6>
        <a:srgbClr val="E8DCC3"/>
      </a:accent6>
      <a:hlink>
        <a:srgbClr val="0563C1"/>
      </a:hlink>
      <a:folHlink>
        <a:srgbClr val="954F72"/>
      </a:folHlink>
    </a:clrScheme>
    <a:fontScheme name="Offer">
      <a:majorFont>
        <a:latin typeface="Aptos Display"/>
      </a:majorFont>
      <a:minorFont>
        <a:latin typeface="Aptos"/>
      </a:minorFont>
    </a:fontScheme>
    <a:fmtScheme name="Offer">
      <a:fillStyleLst/>
      <a:lnStyleLst/>
      <a:effectStyleLst/>
      <a:bgFillStyleLst/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Enterprise Agentic AI Readiness Assessment</vt:lpstr>
    </vt:vector>
  </TitlesOfPart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Agentic AI Readiness Assessment One Slide</dc:title>
  <dc:creator>Codex</dc:creator>
  <cp:lastModifiedBy>Codex</cp:lastModifiedBy>
  <dcterms:created xsi:type="dcterms:W3CDTF">2026-03-18T00:00:00Z</dcterms:created>
  <dcterms:modified xsi:type="dcterms:W3CDTF">2026-03-18T00:00:00Z</dcterms:modified>
</cp:coreProperties>
</file>